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ชลชาญ / AquaFlow. Let the name sit ~3 seconds while you introduce the team. No tagline read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statistic per column. Left = the coordination gap (190 independent stations). Right = the cost of not coordinating (2011 flood, ~1.44 trillion THB, World Bank). Gauge red used once, on the money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Placeholder quote — replace with ONE real interview before pitching (per brief). A real operator/resident quote is worth 10x a written one. Photo slot: drop operator/command-center photo full-bleed behind the scrim.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text. The breath before the pivot. Ideal: full-bleed Higgsfield photo of a flooded Bangkok street (image #1 in IMAGES.md).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hinge of the deck. Ask it, then let it sit — force the room to attempt an answer before you give one. Do not rush off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01 — one sentence, the map carries the rest. Test: can a judge repeat all three steps back after one viewing?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02 — the coordination rule (anti 'move-the-flood-elsewhere').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03 — human-in-the-loop + the citizen mirror. Same shared live state, two honest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Divider. Two words. Sets up the product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body text (only in-mock UI labels). Show, don't describe. Replace with real screenshots of the Control Center (dark HUD) and the Citizen app in phone 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objection pre-handler: 'is this really AI or an if-statement with an LLM sticker?' Answer honestly — it's a transparent, ML-replaceable planner. Run the smallest test to fill the RESULT number before pitching.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real alternatives, include 'do nothing'. Your winning cells (ชลชาญ column) in gauge red. Swap SCADA/radio for the actual incumbent systems you 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 text. Product in context. Ideal: Higgsfield photo of the gauge pole in a khlong, or a phone in a farmer/resident's hand (images #2/#3 in IMAGES.md).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over concrete: the whole thesis. Show real software costs (incl. maintenance/hosting), and frame against the billion-baht cost of new physical infrastructure. Fill [X] with your real figures before pitching.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'does this get bigger or stay a science project?' The city scale is real (~190 stations). Fill the [X] values with your projected water/households/capex per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your own holes reads as senior. These three are the real honesty caveats from the project README. If cutting for 5 min, hold this as a backup slide and deploy it when a judge asks about a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Photo, name, role, and ONE proof point each — the evidence this team can build it. Same crop/background/lighting for all photos: consistency reads as competence.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deck that ends without an ask ends on a shrug. Concrete, measurable, 90-day. This is where the judges' hands go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visual — the gauge rail is now full, the water has risen through the whole deck. Backup slide 16 (risks) lives after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6099352"/>
            <a:ext cx="88898" cy="314159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6099352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5908857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6200950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2971" y="2095448"/>
            <a:ext cx="10159746" cy="203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spc="-200" kern="0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ชลชาญ</a:t>
            </a:r>
            <a:endParaRPr lang="en-US" sz="15000" dirty="0"/>
          </a:p>
        </p:txBody>
      </p:sp>
      <p:sp>
        <p:nvSpPr>
          <p:cNvPr id="20" name="Text 18"/>
          <p:cNvSpPr/>
          <p:nvPr/>
        </p:nvSpPr>
        <p:spPr>
          <a:xfrm>
            <a:off x="1142971" y="4127397"/>
            <a:ext cx="10159746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spc="1400" kern="0" dirty="0">
                <a:solidFill>
                  <a:srgbClr val="E3B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AquaFlow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142971" y="4825879"/>
            <a:ext cx="10159746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ระบบประสานงานสูบน้ำและประตูระบายน้ำ · กรุงเทพมหานคร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E3E5DE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5785193"/>
            <a:ext cx="88898" cy="628318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5785193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5594698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5886790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7A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93770" y="622284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E3E5D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ปัญหา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1142971" y="571486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ปัญหา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1142971" y="1333467"/>
            <a:ext cx="952476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1B7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9968" y="2031949"/>
            <a:ext cx="4571886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น้ำ · COORDINATION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69968" y="2285943"/>
            <a:ext cx="4571886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0F3D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~190</a:t>
            </a:r>
            <a:endParaRPr lang="en-US" sz="13000" dirty="0"/>
          </a:p>
        </p:txBody>
      </p:sp>
      <p:sp>
        <p:nvSpPr>
          <p:cNvPr id="24" name="Text 22"/>
          <p:cNvSpPr/>
          <p:nvPr/>
        </p:nvSpPr>
        <p:spPr>
          <a:xfrm>
            <a:off x="1269968" y="3492413"/>
            <a:ext cx="4571886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สถานีสูบน้ำและประตูระบายน้ำทั่วกรุงเทพฯ ต่างคนต่างสูบ — สวนจังหวะน้ำขึ้นของแม่น้ำเจ้าพระยา ระบายน้ำเขตหนึ่งลงอีกเขต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6254594" y="2031949"/>
            <a:ext cx="0" cy="2730432"/>
          </a:xfrm>
          <a:prstGeom prst="line">
            <a:avLst/>
          </a:prstGeom>
          <a:noFill/>
          <a:ln w="17780">
            <a:solidFill>
              <a:srgbClr val="E3E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7333" y="2031949"/>
            <a:ext cx="4825879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เงิน · CONSEQUENCE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67333" y="2285943"/>
            <a:ext cx="4825879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D62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1.44</a:t>
            </a:r>
            <a:endParaRPr lang="en-US" sz="13000" dirty="0"/>
          </a:p>
        </p:txBody>
      </p:sp>
      <p:sp>
        <p:nvSpPr>
          <p:cNvPr id="28" name="Text 26"/>
          <p:cNvSpPr/>
          <p:nvPr/>
        </p:nvSpPr>
        <p:spPr>
          <a:xfrm>
            <a:off x="6667333" y="3397165"/>
            <a:ext cx="4825879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62828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ล้านล้านบาท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667333" y="3778156"/>
            <a:ext cx="4825879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ความเสียหายจากมหาอุทกภัย 2554 — ต้นทุนของการระบายน้ำที่ไม่ประสานกัน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269968" y="6286514"/>
            <a:ext cx="10159746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7A72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ที่มา: สำนักการระบายน้ำ กทม. · World Bank (2012)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5471034"/>
            <a:ext cx="88898" cy="942477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5471034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5280539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5572631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9968" y="952476"/>
            <a:ext cx="8889778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E3B23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เสียงจากพื้นที่ · BORROWED VOICE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69968" y="1904952"/>
            <a:ext cx="9397765" cy="190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“เวลาฝนลงพร้อมกันหลายเขต เราสั่งสูบทีละสถานีทางวิทยุ — กว่าจะรู้ว่าปลายน้ำรับไม่ไหว อีกเขตก็ท่วมไปแล้ว”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1269968" y="4063898"/>
            <a:ext cx="9397765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— [ตัวอย่างเสียงจากพื้นที่ · แทนที่ด้วยบทสัมภาษณ์จริงจากเจ้าหน้าที่สำนักการระบายน้ำ ก่อนพิตช์]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5156875"/>
            <a:ext cx="88898" cy="1256636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5156875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4966380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5258472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55911" y="761981"/>
            <a:ext cx="1523962" cy="5334038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20" name="Shape 18"/>
          <p:cNvSpPr/>
          <p:nvPr/>
        </p:nvSpPr>
        <p:spPr>
          <a:xfrm>
            <a:off x="3555911" y="761981"/>
            <a:ext cx="1523962" cy="381003"/>
          </a:xfrm>
          <a:prstGeom prst="rect">
            <a:avLst/>
          </a:prstGeom>
          <a:solidFill>
            <a:srgbClr val="0F3D3E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555911" y="1523986"/>
            <a:ext cx="1523962" cy="381003"/>
          </a:xfrm>
          <a:prstGeom prst="rect">
            <a:avLst/>
          </a:prstGeom>
          <a:solidFill>
            <a:srgbClr val="0F3D3E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55911" y="2285992"/>
            <a:ext cx="1523962" cy="381003"/>
          </a:xfrm>
          <a:prstGeom prst="rect">
            <a:avLst/>
          </a:prstGeom>
          <a:solidFill>
            <a:srgbClr val="0F3D3E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555911" y="3047997"/>
            <a:ext cx="1523962" cy="381003"/>
          </a:xfrm>
          <a:prstGeom prst="rect">
            <a:avLst/>
          </a:prstGeom>
          <a:solidFill>
            <a:srgbClr val="0F3D3E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555911" y="3810003"/>
            <a:ext cx="1523962" cy="381003"/>
          </a:xfrm>
          <a:prstGeom prst="rect">
            <a:avLst/>
          </a:prstGeom>
          <a:solidFill>
            <a:srgbClr val="0F3D3E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555911" y="4572008"/>
            <a:ext cx="1523962" cy="381003"/>
          </a:xfrm>
          <a:prstGeom prst="rect">
            <a:avLst/>
          </a:prstGeom>
          <a:solidFill>
            <a:srgbClr val="0F3D3E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555911" y="5334014"/>
            <a:ext cx="1523962" cy="381003"/>
          </a:xfrm>
          <a:prstGeom prst="rect">
            <a:avLst/>
          </a:prstGeom>
          <a:solidFill>
            <a:srgbClr val="0F3D3E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555911" y="3002277"/>
            <a:ext cx="1523962" cy="3093742"/>
          </a:xfrm>
          <a:prstGeom prst="rect">
            <a:avLst/>
          </a:prstGeom>
          <a:solidFill>
            <a:srgbClr val="1B7A6B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365416" y="3002277"/>
            <a:ext cx="1904952" cy="0"/>
          </a:xfrm>
          <a:prstGeom prst="line">
            <a:avLst/>
          </a:prstGeom>
          <a:noFill/>
          <a:ln w="30480">
            <a:solidFill>
              <a:srgbClr val="E3B2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65416" y="1508746"/>
            <a:ext cx="1904952" cy="0"/>
          </a:xfrm>
          <a:prstGeom prst="line">
            <a:avLst/>
          </a:prstGeom>
          <a:noFill/>
          <a:ln w="30480">
            <a:solidFill>
              <a:srgbClr val="D6282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5841854" y="3256271"/>
            <a:ext cx="1269968" cy="380990"/>
          </a:xfrm>
          <a:prstGeom prst="ellipse">
            <a:avLst/>
          </a:prstGeom>
          <a:noFill/>
          <a:ln w="12700">
            <a:solidFill>
              <a:srgbClr val="1B7A6B">
                <a:alpha val="6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30832" y="3446766"/>
            <a:ext cx="1142971" cy="342891"/>
          </a:xfrm>
          <a:prstGeom prst="ellipse">
            <a:avLst/>
          </a:prstGeom>
          <a:noFill/>
          <a:ln w="12700">
            <a:solidFill>
              <a:srgbClr val="1B7A6B">
                <a:alpha val="6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19810" y="3637261"/>
            <a:ext cx="1015975" cy="304792"/>
          </a:xfrm>
          <a:prstGeom prst="ellipse">
            <a:avLst/>
          </a:prstGeom>
          <a:noFill/>
          <a:ln w="12700">
            <a:solidFill>
              <a:srgbClr val="1B7A6B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08787" y="3827756"/>
            <a:ext cx="888978" cy="266693"/>
          </a:xfrm>
          <a:prstGeom prst="ellipse">
            <a:avLst/>
          </a:prstGeom>
          <a:noFill/>
          <a:ln w="12700">
            <a:solidFill>
              <a:srgbClr val="1B7A6B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97765" y="4018252"/>
            <a:ext cx="761981" cy="228594"/>
          </a:xfrm>
          <a:prstGeom prst="ellipse">
            <a:avLst/>
          </a:prstGeom>
          <a:noFill/>
          <a:ln w="12700">
            <a:solidFill>
              <a:srgbClr val="1B7A6B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4842716"/>
            <a:ext cx="88898" cy="1570795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4842716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4652221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4944313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2971" y="2666933"/>
            <a:ext cx="10159746" cy="1396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-100" kern="0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แล้วเราจะทำอะไรได้บ้าง?</a:t>
            </a:r>
            <a:endParaRPr lang="en-US" sz="6000" dirty="0"/>
          </a:p>
        </p:txBody>
      </p:sp>
      <p:sp>
        <p:nvSpPr>
          <p:cNvPr id="20" name="Text 18"/>
          <p:cNvSpPr/>
          <p:nvPr/>
        </p:nvSpPr>
        <p:spPr>
          <a:xfrm>
            <a:off x="1142971" y="4127397"/>
            <a:ext cx="10159746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4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 what can we actually do?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E3E5DE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4528557"/>
            <a:ext cx="88898" cy="1884954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4528557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4338061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4630154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7A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2971" y="888978"/>
            <a:ext cx="2539937" cy="165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E3E5D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5000" dirty="0"/>
          </a:p>
        </p:txBody>
      </p:sp>
      <p:sp>
        <p:nvSpPr>
          <p:cNvPr id="20" name="Text 18"/>
          <p:cNvSpPr/>
          <p:nvPr/>
        </p:nvSpPr>
        <p:spPr>
          <a:xfrm>
            <a:off x="1269968" y="952476"/>
            <a:ext cx="3809905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วิธีการ · PROCESS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69968" y="2730432"/>
            <a:ext cx="9016775" cy="165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รวม ~190 สถานีที่ต่างคนต่างสูบ มาไว้ในแผนที่เครือข่ายเดียว เห็นสถานะน้ำทั้งเมืองพร้อมกัน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269968" y="5905524"/>
            <a:ext cx="8889778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5C7A72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We pull ~190 independently-run pump stations and floodgates into one live network map.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E3E5DE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4214398"/>
            <a:ext cx="88898" cy="2199113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4214398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4023902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4315995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7A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2971" y="888978"/>
            <a:ext cx="2539937" cy="165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E3E5D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5000" dirty="0"/>
          </a:p>
        </p:txBody>
      </p:sp>
      <p:sp>
        <p:nvSpPr>
          <p:cNvPr id="20" name="Text 18"/>
          <p:cNvSpPr/>
          <p:nvPr/>
        </p:nvSpPr>
        <p:spPr>
          <a:xfrm>
            <a:off x="1269968" y="952476"/>
            <a:ext cx="3809905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วิธีการ · PROCESS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69968" y="2730432"/>
            <a:ext cx="9016775" cy="165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ตัวจัดแผนอ่านฝนพยากรณ์รายสถานี + จังหวะน้ำขึ้นลง แล้วจัดคิวสูบแบบประสาน ไม่ให้ทุกสถานีระบายลงจุดเดียวพร้อมกัน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269968" y="5905524"/>
            <a:ext cx="8889778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5C7A72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The planner reads per-station rain forecast + tide, then staggers pumping so stations sharing a downstream node never dump at once.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E3E5DE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3900239"/>
            <a:ext cx="88898" cy="2513273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3900239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3709743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4001836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7A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2971" y="888978"/>
            <a:ext cx="2539937" cy="165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E3E5D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000" dirty="0"/>
          </a:p>
        </p:txBody>
      </p:sp>
      <p:sp>
        <p:nvSpPr>
          <p:cNvPr id="20" name="Text 18"/>
          <p:cNvSpPr/>
          <p:nvPr/>
        </p:nvSpPr>
        <p:spPr>
          <a:xfrm>
            <a:off x="1269968" y="952476"/>
            <a:ext cx="3809905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วิธีการ · PROCESS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69968" y="2730432"/>
            <a:ext cx="9016775" cy="165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เจ้าหน้าที่กด ‘ดูเหตุผล’ แล้ว ‘อนุมัติ’ — หรือให้ทำกึ่งอัตโนมัติ ประชาชนเห็นผลในแอปทันที แดง → เขียว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269968" y="5905524"/>
            <a:ext cx="8889778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5C7A72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The operator taps ‘see why’ then ‘approve’ — or pre-authorizes semi-auto. Citizens watch their district ease red → green, live.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3586080"/>
            <a:ext cx="88898" cy="2827432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3586080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3395584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3687677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93770" y="2781230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13494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แอปพลิเคชัน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1142971" y="2730432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แอปพลิเคชัน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1142971" y="3492413"/>
            <a:ext cx="952476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APPLICATION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E3E5DE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3271920"/>
            <a:ext cx="88898" cy="3141591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3271920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3081425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3373518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7A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60463" y="952476"/>
            <a:ext cx="6349841" cy="3936902"/>
          </a:xfrm>
          <a:prstGeom prst="roundRect">
            <a:avLst>
              <a:gd name="adj" fmla="val 1858"/>
            </a:avLst>
          </a:prstGeom>
          <a:solidFill>
            <a:srgbClr val="0F3D3E"/>
          </a:solidFill>
          <a:ln w="12700">
            <a:solidFill>
              <a:srgbClr val="13494A"/>
            </a:solidFill>
            <a:prstDash val="solid"/>
          </a:ln>
          <a:effectLst>
            <a:outerShdw sx="100000" sy="100000" kx="0" ky="0" algn="bl" rotWithShape="0" blurRad="127000" dist="50800" dir="5400000">
              <a:srgbClr val="0A1F2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460463" y="952476"/>
            <a:ext cx="6349841" cy="355591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21" name="Text 19"/>
          <p:cNvSpPr/>
          <p:nvPr/>
        </p:nvSpPr>
        <p:spPr>
          <a:xfrm>
            <a:off x="1612860" y="952476"/>
            <a:ext cx="3809905" cy="355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EDEEE9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ศูนย์ควบคุม · CONTROL CENTER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29314" y="1079473"/>
            <a:ext cx="101597" cy="101597"/>
          </a:xfrm>
          <a:prstGeom prst="ellipse">
            <a:avLst/>
          </a:prstGeom>
          <a:solidFill>
            <a:srgbClr val="1B7A6B"/>
          </a:solidFill>
          <a:ln/>
        </p:spPr>
      </p:sp>
      <p:sp>
        <p:nvSpPr>
          <p:cNvPr id="23" name="Shape 21"/>
          <p:cNvSpPr/>
          <p:nvPr/>
        </p:nvSpPr>
        <p:spPr>
          <a:xfrm>
            <a:off x="1612860" y="1460463"/>
            <a:ext cx="3936902" cy="2666933"/>
          </a:xfrm>
          <a:prstGeom prst="roundRect">
            <a:avLst>
              <a:gd name="adj" fmla="val 1371"/>
            </a:avLst>
          </a:prstGeom>
          <a:solidFill>
            <a:srgbClr val="0C3335"/>
          </a:solidFill>
          <a:ln w="12700">
            <a:solidFill>
              <a:srgbClr val="1349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00240" y="2260543"/>
            <a:ext cx="1181070" cy="800080"/>
          </a:xfrm>
          <a:prstGeom prst="line">
            <a:avLst/>
          </a:prstGeom>
          <a:noFill/>
          <a:ln w="17780">
            <a:solidFill>
              <a:srgbClr val="1B7A6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3581310" y="1993850"/>
            <a:ext cx="984225" cy="533387"/>
          </a:xfrm>
          <a:prstGeom prst="line">
            <a:avLst/>
          </a:prstGeom>
          <a:noFill/>
          <a:ln w="17780">
            <a:solidFill>
              <a:srgbClr val="1B7A6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2990775" y="3060623"/>
            <a:ext cx="984225" cy="266693"/>
          </a:xfrm>
          <a:prstGeom prst="line">
            <a:avLst/>
          </a:prstGeom>
          <a:noFill/>
          <a:ln w="17780">
            <a:solidFill>
              <a:srgbClr val="E3B23C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2330392" y="2190695"/>
            <a:ext cx="139697" cy="139697"/>
          </a:xfrm>
          <a:prstGeom prst="ellipse">
            <a:avLst/>
          </a:prstGeom>
          <a:solidFill>
            <a:srgbClr val="1B7A6B"/>
          </a:solidFill>
          <a:ln w="12700">
            <a:solidFill>
              <a:srgbClr val="EDEE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11462" y="1924002"/>
            <a:ext cx="139697" cy="139697"/>
          </a:xfrm>
          <a:prstGeom prst="ellipse">
            <a:avLst/>
          </a:prstGeom>
          <a:solidFill>
            <a:srgbClr val="1B7A6B"/>
          </a:solidFill>
          <a:ln w="12700">
            <a:solidFill>
              <a:srgbClr val="EDEE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95688" y="2457389"/>
            <a:ext cx="139697" cy="139697"/>
          </a:xfrm>
          <a:prstGeom prst="ellipse">
            <a:avLst/>
          </a:prstGeom>
          <a:solidFill>
            <a:srgbClr val="D62828"/>
          </a:solidFill>
          <a:ln w="12700">
            <a:solidFill>
              <a:srgbClr val="EDEEE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20927" y="2990775"/>
            <a:ext cx="139697" cy="139697"/>
          </a:xfrm>
          <a:prstGeom prst="ellipse">
            <a:avLst/>
          </a:prstGeom>
          <a:solidFill>
            <a:srgbClr val="1B7A6B"/>
          </a:solidFill>
          <a:ln w="12700">
            <a:solidFill>
              <a:srgbClr val="EDEE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05152" y="3257469"/>
            <a:ext cx="139697" cy="139697"/>
          </a:xfrm>
          <a:prstGeom prst="ellipse">
            <a:avLst/>
          </a:prstGeom>
          <a:solidFill>
            <a:srgbClr val="E3B23C"/>
          </a:solidFill>
          <a:ln w="12700">
            <a:solidFill>
              <a:srgbClr val="EDEE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89378" y="3310807"/>
            <a:ext cx="139697" cy="139697"/>
          </a:xfrm>
          <a:prstGeom prst="ellipse">
            <a:avLst/>
          </a:prstGeom>
          <a:solidFill>
            <a:srgbClr val="1B7A6B"/>
          </a:solidFill>
          <a:ln w="12700">
            <a:solidFill>
              <a:srgbClr val="EDEE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727557" y="1460463"/>
            <a:ext cx="927077" cy="457189"/>
          </a:xfrm>
          <a:prstGeom prst="roundRect">
            <a:avLst>
              <a:gd name="adj" fmla="val 12000"/>
            </a:avLst>
          </a:prstGeom>
          <a:solidFill>
            <a:srgbClr val="13494A"/>
          </a:solidFill>
          <a:ln w="12700">
            <a:solidFill>
              <a:srgbClr val="1F5A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3755" y="1511262"/>
            <a:ext cx="812780" cy="241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190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803755" y="1739857"/>
            <a:ext cx="8127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สถานีในระบบ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730832" y="1460463"/>
            <a:ext cx="927077" cy="457189"/>
          </a:xfrm>
          <a:prstGeom prst="roundRect">
            <a:avLst>
              <a:gd name="adj" fmla="val 12000"/>
            </a:avLst>
          </a:prstGeom>
          <a:solidFill>
            <a:srgbClr val="13494A"/>
          </a:solidFill>
          <a:ln w="12700">
            <a:solidFill>
              <a:srgbClr val="1F5A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7030" y="1511262"/>
            <a:ext cx="812780" cy="241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3B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807030" y="1739857"/>
            <a:ext cx="8127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กำลังสูบ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27557" y="1993850"/>
            <a:ext cx="927077" cy="457189"/>
          </a:xfrm>
          <a:prstGeom prst="roundRect">
            <a:avLst>
              <a:gd name="adj" fmla="val 12000"/>
            </a:avLst>
          </a:prstGeom>
          <a:solidFill>
            <a:srgbClr val="13494A"/>
          </a:solidFill>
          <a:ln w="12700">
            <a:solidFill>
              <a:srgbClr val="1F5A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3755" y="2044649"/>
            <a:ext cx="812780" cy="241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58%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803755" y="2273243"/>
            <a:ext cx="8127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ระดับเฉลี่ย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30832" y="1993850"/>
            <a:ext cx="927077" cy="457189"/>
          </a:xfrm>
          <a:prstGeom prst="roundRect">
            <a:avLst>
              <a:gd name="adj" fmla="val 12000"/>
            </a:avLst>
          </a:prstGeom>
          <a:solidFill>
            <a:srgbClr val="13494A"/>
          </a:solidFill>
          <a:ln w="12700">
            <a:solidFill>
              <a:srgbClr val="1F5A5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07030" y="2044649"/>
            <a:ext cx="812780" cy="241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32mm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807030" y="2273243"/>
            <a:ext cx="812780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ฝน 3 ชม.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727557" y="2603435"/>
            <a:ext cx="1930352" cy="1523962"/>
          </a:xfrm>
          <a:prstGeom prst="roundRect">
            <a:avLst>
              <a:gd name="adj" fmla="val 3000"/>
            </a:avLst>
          </a:prstGeom>
          <a:solidFill>
            <a:srgbClr val="13494A"/>
          </a:solidFill>
          <a:ln w="12700">
            <a:solidFill>
              <a:srgbClr val="1F5A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16455" y="2666933"/>
            <a:ext cx="1752556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E3B23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แผนประสานงาน · AI PLAN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803755" y="2882828"/>
            <a:ext cx="1777956" cy="304792"/>
          </a:xfrm>
          <a:prstGeom prst="roundRect">
            <a:avLst>
              <a:gd name="adj" fmla="val 24001"/>
            </a:avLst>
          </a:prstGeom>
          <a:solidFill>
            <a:srgbClr val="0F3D3E"/>
          </a:solidFill>
          <a:ln w="12700">
            <a:solidFill>
              <a:srgbClr val="1B7A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67253" y="2882828"/>
            <a:ext cx="888978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EE9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พระโขนง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705432" y="2882828"/>
            <a:ext cx="82547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สูบ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803755" y="3251119"/>
            <a:ext cx="1777956" cy="304792"/>
          </a:xfrm>
          <a:prstGeom prst="roundRect">
            <a:avLst>
              <a:gd name="adj" fmla="val 24001"/>
            </a:avLst>
          </a:prstGeom>
          <a:solidFill>
            <a:srgbClr val="0F3D3E"/>
          </a:solidFill>
          <a:ln w="12700">
            <a:solidFill>
              <a:srgbClr val="E3B2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67253" y="3251119"/>
            <a:ext cx="888978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EE9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มักกะสัน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705432" y="3251119"/>
            <a:ext cx="82547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3B23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รอ · น้ำขึ้น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803755" y="3619410"/>
            <a:ext cx="1777956" cy="304792"/>
          </a:xfrm>
          <a:prstGeom prst="roundRect">
            <a:avLst>
              <a:gd name="adj" fmla="val 24001"/>
            </a:avLst>
          </a:prstGeom>
          <a:solidFill>
            <a:srgbClr val="0F3D3E"/>
          </a:solidFill>
          <a:ln w="12700">
            <a:solidFill>
              <a:srgbClr val="1B7A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67253" y="3619410"/>
            <a:ext cx="888978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EE9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แสนแสบ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705432" y="3619410"/>
            <a:ext cx="825479" cy="30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สูบ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612860" y="4228994"/>
            <a:ext cx="1248802" cy="253994"/>
          </a:xfrm>
          <a:prstGeom prst="roundRect">
            <a:avLst>
              <a:gd name="adj" fmla="val 36001"/>
            </a:avLst>
          </a:prstGeom>
          <a:solidFill>
            <a:srgbClr val="13494A"/>
          </a:solidFill>
          <a:ln/>
        </p:spPr>
      </p:sp>
      <p:sp>
        <p:nvSpPr>
          <p:cNvPr id="57" name="Shape 55"/>
          <p:cNvSpPr/>
          <p:nvPr/>
        </p:nvSpPr>
        <p:spPr>
          <a:xfrm>
            <a:off x="1612860" y="4228994"/>
            <a:ext cx="874161" cy="253994"/>
          </a:xfrm>
          <a:prstGeom prst="roundRect">
            <a:avLst>
              <a:gd name="adj" fmla="val 36001"/>
            </a:avLst>
          </a:prstGeom>
          <a:solidFill>
            <a:srgbClr val="D62828"/>
          </a:solidFill>
          <a:ln/>
        </p:spPr>
      </p:sp>
      <p:sp>
        <p:nvSpPr>
          <p:cNvPr id="58" name="Text 56"/>
          <p:cNvSpPr/>
          <p:nvPr/>
        </p:nvSpPr>
        <p:spPr>
          <a:xfrm>
            <a:off x="1676358" y="4228994"/>
            <a:ext cx="1185304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City Risk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925160" y="4228994"/>
            <a:ext cx="1248802" cy="253994"/>
          </a:xfrm>
          <a:prstGeom prst="roundRect">
            <a:avLst>
              <a:gd name="adj" fmla="val 36001"/>
            </a:avLst>
          </a:prstGeom>
          <a:solidFill>
            <a:srgbClr val="13494A"/>
          </a:solidFill>
          <a:ln/>
        </p:spPr>
      </p:sp>
      <p:sp>
        <p:nvSpPr>
          <p:cNvPr id="60" name="Shape 58"/>
          <p:cNvSpPr/>
          <p:nvPr/>
        </p:nvSpPr>
        <p:spPr>
          <a:xfrm>
            <a:off x="2925160" y="4228994"/>
            <a:ext cx="686841" cy="253994"/>
          </a:xfrm>
          <a:prstGeom prst="roundRect">
            <a:avLst>
              <a:gd name="adj" fmla="val 36001"/>
            </a:avLst>
          </a:prstGeom>
          <a:solidFill>
            <a:srgbClr val="1B7A6B"/>
          </a:solidFill>
          <a:ln/>
        </p:spPr>
      </p:sp>
      <p:sp>
        <p:nvSpPr>
          <p:cNvPr id="61" name="Text 59"/>
          <p:cNvSpPr/>
          <p:nvPr/>
        </p:nvSpPr>
        <p:spPr>
          <a:xfrm>
            <a:off x="2988659" y="4228994"/>
            <a:ext cx="1185304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Net Avg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237461" y="4228994"/>
            <a:ext cx="1248802" cy="253994"/>
          </a:xfrm>
          <a:prstGeom prst="roundRect">
            <a:avLst>
              <a:gd name="adj" fmla="val 36001"/>
            </a:avLst>
          </a:prstGeom>
          <a:solidFill>
            <a:srgbClr val="13494A"/>
          </a:solidFill>
          <a:ln/>
        </p:spPr>
      </p:sp>
      <p:sp>
        <p:nvSpPr>
          <p:cNvPr id="63" name="Shape 61"/>
          <p:cNvSpPr/>
          <p:nvPr/>
        </p:nvSpPr>
        <p:spPr>
          <a:xfrm>
            <a:off x="4237461" y="4228994"/>
            <a:ext cx="774257" cy="253994"/>
          </a:xfrm>
          <a:prstGeom prst="roundRect">
            <a:avLst>
              <a:gd name="adj" fmla="val 36001"/>
            </a:avLst>
          </a:prstGeom>
          <a:solidFill>
            <a:srgbClr val="E3B23C"/>
          </a:solidFill>
          <a:ln/>
        </p:spPr>
      </p:sp>
      <p:sp>
        <p:nvSpPr>
          <p:cNvPr id="64" name="Text 62"/>
          <p:cNvSpPr/>
          <p:nvPr/>
        </p:nvSpPr>
        <p:spPr>
          <a:xfrm>
            <a:off x="4300959" y="4228994"/>
            <a:ext cx="1185304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River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191295" y="1142971"/>
            <a:ext cx="2031949" cy="3555911"/>
          </a:xfrm>
          <a:prstGeom prst="roundRect">
            <a:avLst>
              <a:gd name="adj" fmla="val 5400"/>
            </a:avLst>
          </a:prstGeom>
          <a:solidFill>
            <a:srgbClr val="EDEEE9"/>
          </a:solidFill>
          <a:ln w="25400">
            <a:solidFill>
              <a:srgbClr val="0A1F20"/>
            </a:solidFill>
            <a:prstDash val="solid"/>
          </a:ln>
          <a:effectLst>
            <a:outerShdw sx="100000" sy="100000" kx="0" ky="0" algn="bl" rotWithShape="0" blurRad="127000" dist="50800" dir="5400000">
              <a:srgbClr val="0A1F20">
                <a:alpha val="3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8292893" y="1269968"/>
            <a:ext cx="1828754" cy="952476"/>
          </a:xfrm>
          <a:prstGeom prst="roundRect">
            <a:avLst>
              <a:gd name="adj" fmla="val 7680"/>
            </a:avLst>
          </a:prstGeom>
          <a:solidFill>
            <a:srgbClr val="1B7A6B"/>
          </a:solidFill>
          <a:ln/>
        </p:spPr>
      </p:sp>
      <p:sp>
        <p:nvSpPr>
          <p:cNvPr id="67" name="Text 65"/>
          <p:cNvSpPr/>
          <p:nvPr/>
        </p:nvSpPr>
        <p:spPr>
          <a:xfrm>
            <a:off x="8381790" y="1358866"/>
            <a:ext cx="165095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EE9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เขตของคุณ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8381790" y="1549361"/>
            <a:ext cx="1650959" cy="355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ปลอดภัย</a:t>
            </a:r>
            <a:endParaRPr lang="en-US" sz="3400" dirty="0"/>
          </a:p>
        </p:txBody>
      </p:sp>
      <p:sp>
        <p:nvSpPr>
          <p:cNvPr id="69" name="Text 67"/>
          <p:cNvSpPr/>
          <p:nvPr/>
        </p:nvSpPr>
        <p:spPr>
          <a:xfrm>
            <a:off x="8381790" y="1943051"/>
            <a:ext cx="1650959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EEE9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🛟 ศูนย์ควบคุมกำลังเร่งระบายน้ำ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292893" y="2349441"/>
            <a:ext cx="1828754" cy="330192"/>
          </a:xfrm>
          <a:prstGeom prst="roundRect">
            <a:avLst>
              <a:gd name="adj" fmla="val 27693"/>
            </a:avLst>
          </a:prstGeom>
          <a:solidFill>
            <a:srgbClr val="E3E5DE"/>
          </a:solidFill>
          <a:ln/>
        </p:spPr>
      </p:sp>
      <p:sp>
        <p:nvSpPr>
          <p:cNvPr id="71" name="Text 69"/>
          <p:cNvSpPr/>
          <p:nvPr/>
        </p:nvSpPr>
        <p:spPr>
          <a:xfrm>
            <a:off x="8369091" y="2349441"/>
            <a:ext cx="1676358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คลองแสนแสบ 42%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292893" y="2755831"/>
            <a:ext cx="1828754" cy="330192"/>
          </a:xfrm>
          <a:prstGeom prst="roundRect">
            <a:avLst>
              <a:gd name="adj" fmla="val 27693"/>
            </a:avLst>
          </a:prstGeom>
          <a:solidFill>
            <a:srgbClr val="E3E5DE"/>
          </a:solidFill>
          <a:ln/>
        </p:spPr>
      </p:sp>
      <p:sp>
        <p:nvSpPr>
          <p:cNvPr id="73" name="Text 71"/>
          <p:cNvSpPr/>
          <p:nvPr/>
        </p:nvSpPr>
        <p:spPr>
          <a:xfrm>
            <a:off x="8369091" y="2755831"/>
            <a:ext cx="1676358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คลองพระโขนง 55%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8292893" y="3162221"/>
            <a:ext cx="1828754" cy="330192"/>
          </a:xfrm>
          <a:prstGeom prst="roundRect">
            <a:avLst>
              <a:gd name="adj" fmla="val 27693"/>
            </a:avLst>
          </a:prstGeom>
          <a:solidFill>
            <a:srgbClr val="E3E5DE"/>
          </a:solidFill>
          <a:ln/>
        </p:spPr>
      </p:sp>
      <p:sp>
        <p:nvSpPr>
          <p:cNvPr id="75" name="Text 73"/>
          <p:cNvSpPr/>
          <p:nvPr/>
        </p:nvSpPr>
        <p:spPr>
          <a:xfrm>
            <a:off x="8369091" y="3162221"/>
            <a:ext cx="1676358" cy="33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คลองลาดพร้าว 38%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2957761"/>
            <a:ext cx="88898" cy="3455750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2957761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2767266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3059359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93770" y="622284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13494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AI นี้ทำงานยังไง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1142971" y="571486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AI นี้ทำงานยังไง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1142971" y="1333467"/>
            <a:ext cx="952476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HOW THE MODEL ACTUALLY WORKS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69968" y="2031949"/>
            <a:ext cx="3301917" cy="2285943"/>
          </a:xfrm>
          <a:prstGeom prst="roundRect">
            <a:avLst>
              <a:gd name="adj" fmla="val 1600"/>
            </a:avLst>
          </a:prstGeom>
          <a:solidFill>
            <a:srgbClr val="13494A"/>
          </a:solidFill>
          <a:ln w="17780">
            <a:solidFill>
              <a:srgbClr val="1B7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47764" y="2209745"/>
            <a:ext cx="126997" cy="126997"/>
          </a:xfrm>
          <a:prstGeom prst="ellipse">
            <a:avLst/>
          </a:prstGeom>
          <a:solidFill>
            <a:srgbClr val="1B7A6B"/>
          </a:solidFill>
          <a:ln/>
        </p:spPr>
      </p:sp>
      <p:sp>
        <p:nvSpPr>
          <p:cNvPr id="24" name="Text 22"/>
          <p:cNvSpPr/>
          <p:nvPr/>
        </p:nvSpPr>
        <p:spPr>
          <a:xfrm>
            <a:off x="1676358" y="2184345"/>
            <a:ext cx="273043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ข้อมูล · 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47764" y="2539937"/>
            <a:ext cx="2946326" cy="165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600" dirty="0">
                <a:solidFill>
                  <a:srgbClr val="EDEEE9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Open-Meteo (ฝนรายสถานี, สด) · Marine/WorldTides (น้ำขึ้นลง) · ThaiWater HII (ระดับคลองจริง) — ทุกค่าติดป้ายที่มา: สด / แคช / จำลอง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25879" y="2031949"/>
            <a:ext cx="3301917" cy="2285943"/>
          </a:xfrm>
          <a:prstGeom prst="roundRect">
            <a:avLst>
              <a:gd name="adj" fmla="val 1600"/>
            </a:avLst>
          </a:prstGeom>
          <a:solidFill>
            <a:srgbClr val="13494A"/>
          </a:solidFill>
          <a:ln w="17780">
            <a:solidFill>
              <a:srgbClr val="E3B2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03675" y="2209745"/>
            <a:ext cx="126997" cy="126997"/>
          </a:xfrm>
          <a:prstGeom prst="ellipse">
            <a:avLst/>
          </a:prstGeom>
          <a:solidFill>
            <a:srgbClr val="E3B23C"/>
          </a:solidFill>
          <a:ln/>
        </p:spPr>
      </p:sp>
      <p:sp>
        <p:nvSpPr>
          <p:cNvPr id="28" name="Text 26"/>
          <p:cNvSpPr/>
          <p:nvPr/>
        </p:nvSpPr>
        <p:spPr>
          <a:xfrm>
            <a:off x="5232269" y="2184345"/>
            <a:ext cx="273043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E3B23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โมเดล · MODEL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03675" y="2539937"/>
            <a:ext cx="2946326" cy="165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600" dirty="0">
                <a:solidFill>
                  <a:srgbClr val="EDEEE9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ตัวจัดแผนเชิงกฎที่โปร่งใส (heuristic v1) — รู้จังหวะน้ำ, ฝนล่วงหน้า 3 ชม., ประสานข้ามสถานี ออกแบบให้ ML/RL มาแทนได้ในอินเทอร์เฟซเดียว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81790" y="2031949"/>
            <a:ext cx="3301917" cy="2285943"/>
          </a:xfrm>
          <a:prstGeom prst="roundRect">
            <a:avLst>
              <a:gd name="adj" fmla="val 1600"/>
            </a:avLst>
          </a:prstGeom>
          <a:solidFill>
            <a:srgbClr val="13494A"/>
          </a:solidFill>
          <a:ln w="17780">
            <a:solidFill>
              <a:srgbClr val="D628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59586" y="2209745"/>
            <a:ext cx="126997" cy="126997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8788180" y="2184345"/>
            <a:ext cx="2730432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62828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ผลลัพธ์ · RESULT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59586" y="2539937"/>
            <a:ext cx="2946326" cy="1650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600" dirty="0">
                <a:solidFill>
                  <a:srgbClr val="EDEEE9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กฎ ‘ห้ามย้ายน้ำท่วมไปเขตอื่น’ กันไม่ให้สถานีปลายน้ำเดียวกันสูบพร้อมกัน + รอเมื่อแม่น้ำไม่มีที่ว่าง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69968" y="4470288"/>
            <a:ext cx="10159746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E3B23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หมายเหตุตามจริง: “AI” นี้คือ heuristic ที่โปร่งใส ไม่ใช่กล่องดำ — [เติมตัวเลขจริง: % การย้ายน้ำท่วมข้ามเขตที่ลดได้ เทียบ baseline สูบตามเวลา]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E3E5DE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2643602"/>
            <a:ext cx="88898" cy="3769909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2643602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2453107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2745200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7A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93770" y="558786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E3E5D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เทียบทางเลือกอื่น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1142971" y="507987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เทียบทางเลือกอื่น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1142971" y="1269968"/>
            <a:ext cx="952476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1B7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COMPETITIVE COMPARISON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69968" y="1904952"/>
            <a:ext cx="2285943" cy="469888"/>
          </a:xfrm>
          <a:prstGeom prst="rect">
            <a:avLst/>
          </a:prstGeom>
          <a:solidFill>
            <a:srgbClr val="1B7A6B"/>
          </a:solidFill>
          <a:ln w="12700">
            <a:solidFill>
              <a:srgbClr val="EDE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33467" y="1904952"/>
            <a:ext cx="215894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55911" y="1904952"/>
            <a:ext cx="2095448" cy="469888"/>
          </a:xfrm>
          <a:prstGeom prst="rect">
            <a:avLst/>
          </a:prstGeom>
          <a:solidFill>
            <a:srgbClr val="0F3D3E"/>
          </a:solidFill>
          <a:ln w="12700">
            <a:solidFill>
              <a:srgbClr val="EDE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19410" y="1904952"/>
            <a:ext cx="1968451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ชลชาญ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51359" y="1904952"/>
            <a:ext cx="2031949" cy="469888"/>
          </a:xfrm>
          <a:prstGeom prst="rect">
            <a:avLst/>
          </a:prstGeom>
          <a:solidFill>
            <a:srgbClr val="1B7A6B"/>
          </a:solidFill>
          <a:ln w="12700">
            <a:solidFill>
              <a:srgbClr val="EDE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4857" y="1904952"/>
            <a:ext cx="1904952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SCADA แยกสถานี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83308" y="1904952"/>
            <a:ext cx="1904952" cy="469888"/>
          </a:xfrm>
          <a:prstGeom prst="rect">
            <a:avLst/>
          </a:prstGeom>
          <a:solidFill>
            <a:srgbClr val="1B7A6B"/>
          </a:solidFill>
          <a:ln w="12700">
            <a:solidFill>
              <a:srgbClr val="EDE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46806" y="1904952"/>
            <a:ext cx="177795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สั่งการทางวิทยุ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88260" y="1904952"/>
            <a:ext cx="1968451" cy="469888"/>
          </a:xfrm>
          <a:prstGeom prst="rect">
            <a:avLst/>
          </a:prstGeom>
          <a:solidFill>
            <a:srgbClr val="1B7A6B"/>
          </a:solidFill>
          <a:ln w="12700">
            <a:solidFill>
              <a:srgbClr val="EDE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51759" y="1904952"/>
            <a:ext cx="1841454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ไม่ทำอะไร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69968" y="2374841"/>
            <a:ext cx="2285943" cy="469888"/>
          </a:xfrm>
          <a:prstGeom prst="rect">
            <a:avLst/>
          </a:prstGeom>
          <a:solidFill>
            <a:srgbClr val="E3E5DE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33467" y="2374841"/>
            <a:ext cx="215894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ประสานงานข้ามสถานี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555911" y="2374841"/>
            <a:ext cx="2095448" cy="469888"/>
          </a:xfrm>
          <a:prstGeom prst="rect">
            <a:avLst/>
          </a:prstGeom>
          <a:solidFill>
            <a:srgbClr val="DDEDE7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9410" y="2374841"/>
            <a:ext cx="1968451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5651359" y="2374841"/>
            <a:ext cx="2031949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4857" y="2374841"/>
            <a:ext cx="1904952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683308" y="2374841"/>
            <a:ext cx="1904952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46806" y="2374841"/>
            <a:ext cx="177795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9588260" y="2374841"/>
            <a:ext cx="1968451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51759" y="2374841"/>
            <a:ext cx="1841454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1269968" y="2844729"/>
            <a:ext cx="2285943" cy="469888"/>
          </a:xfrm>
          <a:prstGeom prst="rect">
            <a:avLst/>
          </a:prstGeom>
          <a:solidFill>
            <a:srgbClr val="E3E5DE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33467" y="2844729"/>
            <a:ext cx="215894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รู้จังหวะน้ำขึ้นน้ำลง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555911" y="2844729"/>
            <a:ext cx="2095448" cy="469888"/>
          </a:xfrm>
          <a:prstGeom prst="rect">
            <a:avLst/>
          </a:prstGeom>
          <a:solidFill>
            <a:srgbClr val="DDEDE7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19410" y="2844729"/>
            <a:ext cx="1968451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6" name="Shape 44"/>
          <p:cNvSpPr/>
          <p:nvPr/>
        </p:nvSpPr>
        <p:spPr>
          <a:xfrm>
            <a:off x="5651359" y="2844729"/>
            <a:ext cx="2031949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14857" y="2844729"/>
            <a:ext cx="1904952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7683308" y="2844729"/>
            <a:ext cx="1904952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46806" y="2844729"/>
            <a:ext cx="177795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9588260" y="2844729"/>
            <a:ext cx="1968451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51759" y="2844729"/>
            <a:ext cx="1841454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1269968" y="3314617"/>
            <a:ext cx="2285943" cy="469888"/>
          </a:xfrm>
          <a:prstGeom prst="rect">
            <a:avLst/>
          </a:prstGeom>
          <a:solidFill>
            <a:srgbClr val="E3E5DE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33467" y="3314617"/>
            <a:ext cx="215894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โปร่งใส · เห็นเหตุผล AI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3555911" y="3314617"/>
            <a:ext cx="2095448" cy="469888"/>
          </a:xfrm>
          <a:prstGeom prst="rect">
            <a:avLst/>
          </a:prstGeom>
          <a:solidFill>
            <a:srgbClr val="DDEDE7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19410" y="3314617"/>
            <a:ext cx="1968451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56" name="Shape 54"/>
          <p:cNvSpPr/>
          <p:nvPr/>
        </p:nvSpPr>
        <p:spPr>
          <a:xfrm>
            <a:off x="5651359" y="3314617"/>
            <a:ext cx="2031949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14857" y="3314617"/>
            <a:ext cx="1904952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7683308" y="3314617"/>
            <a:ext cx="1904952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46806" y="3314617"/>
            <a:ext cx="177795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2000" dirty="0"/>
          </a:p>
        </p:txBody>
      </p:sp>
      <p:sp>
        <p:nvSpPr>
          <p:cNvPr id="60" name="Shape 58"/>
          <p:cNvSpPr/>
          <p:nvPr/>
        </p:nvSpPr>
        <p:spPr>
          <a:xfrm>
            <a:off x="9588260" y="3314617"/>
            <a:ext cx="1968451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51759" y="3314617"/>
            <a:ext cx="1841454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62" name="Shape 60"/>
          <p:cNvSpPr/>
          <p:nvPr/>
        </p:nvSpPr>
        <p:spPr>
          <a:xfrm>
            <a:off x="1269968" y="3784505"/>
            <a:ext cx="2285943" cy="469888"/>
          </a:xfrm>
          <a:prstGeom prst="rect">
            <a:avLst/>
          </a:prstGeom>
          <a:solidFill>
            <a:srgbClr val="E3E5DE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333467" y="3784505"/>
            <a:ext cx="215894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แอปประชาชนเรียลไทม์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3555911" y="3784505"/>
            <a:ext cx="2095448" cy="469888"/>
          </a:xfrm>
          <a:prstGeom prst="rect">
            <a:avLst/>
          </a:prstGeom>
          <a:solidFill>
            <a:srgbClr val="DDEDE7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19410" y="3784505"/>
            <a:ext cx="1968451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66" name="Shape 64"/>
          <p:cNvSpPr/>
          <p:nvPr/>
        </p:nvSpPr>
        <p:spPr>
          <a:xfrm>
            <a:off x="5651359" y="3784505"/>
            <a:ext cx="2031949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714857" y="3784505"/>
            <a:ext cx="1904952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68" name="Shape 66"/>
          <p:cNvSpPr/>
          <p:nvPr/>
        </p:nvSpPr>
        <p:spPr>
          <a:xfrm>
            <a:off x="7683308" y="3784505"/>
            <a:ext cx="1904952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746806" y="3784505"/>
            <a:ext cx="177795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70" name="Shape 68"/>
          <p:cNvSpPr/>
          <p:nvPr/>
        </p:nvSpPr>
        <p:spPr>
          <a:xfrm>
            <a:off x="9588260" y="3784505"/>
            <a:ext cx="1968451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51759" y="3784505"/>
            <a:ext cx="1841454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1269968" y="4254394"/>
            <a:ext cx="2285943" cy="469888"/>
          </a:xfrm>
          <a:prstGeom prst="rect">
            <a:avLst/>
          </a:prstGeom>
          <a:solidFill>
            <a:srgbClr val="E3E5DE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333467" y="4254394"/>
            <a:ext cx="215894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ต้นทุน</a:t>
            </a:r>
            <a:endParaRPr lang="en-US" sz="1500" dirty="0"/>
          </a:p>
        </p:txBody>
      </p:sp>
      <p:sp>
        <p:nvSpPr>
          <p:cNvPr id="74" name="Shape 72"/>
          <p:cNvSpPr/>
          <p:nvPr/>
        </p:nvSpPr>
        <p:spPr>
          <a:xfrm>
            <a:off x="3555911" y="4254394"/>
            <a:ext cx="2095448" cy="469888"/>
          </a:xfrm>
          <a:prstGeom prst="rect">
            <a:avLst/>
          </a:prstGeom>
          <a:solidFill>
            <a:srgbClr val="DDEDE7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19410" y="4254394"/>
            <a:ext cx="1968451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ซอฟต์แวร์</a:t>
            </a:r>
            <a:endParaRPr lang="en-US" sz="1500" dirty="0"/>
          </a:p>
        </p:txBody>
      </p:sp>
      <p:sp>
        <p:nvSpPr>
          <p:cNvPr id="76" name="Shape 74"/>
          <p:cNvSpPr/>
          <p:nvPr/>
        </p:nvSpPr>
        <p:spPr>
          <a:xfrm>
            <a:off x="5651359" y="4254394"/>
            <a:ext cx="2031949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14857" y="4254394"/>
            <a:ext cx="1904952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สูง/สถานี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7683308" y="4254394"/>
            <a:ext cx="1904952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746806" y="4254394"/>
            <a:ext cx="1777956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แรงคน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9588260" y="4254394"/>
            <a:ext cx="1968451" cy="46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651759" y="4254394"/>
            <a:ext cx="1841454" cy="46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น้ำท่วม</a:t>
            </a:r>
            <a:endParaRPr lang="en-US" sz="1500" dirty="0"/>
          </a:p>
        </p:txBody>
      </p:sp>
      <p:sp>
        <p:nvSpPr>
          <p:cNvPr id="82" name="Text 80"/>
          <p:cNvSpPr/>
          <p:nvPr/>
        </p:nvSpPr>
        <p:spPr>
          <a:xfrm>
            <a:off x="1269968" y="6350013"/>
            <a:ext cx="10159746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7A72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‘ไม่ทำอะไร’ คือคู่แข่งจริงเสมอ · ‘doing nothing’ is always the real competitor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2329443"/>
            <a:ext cx="88898" cy="4084068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2329443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2138948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2431041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25879" y="1460463"/>
            <a:ext cx="2539937" cy="3936902"/>
          </a:xfrm>
          <a:prstGeom prst="roundRect">
            <a:avLst>
              <a:gd name="adj" fmla="val 3600"/>
            </a:avLst>
          </a:prstGeom>
          <a:solidFill>
            <a:srgbClr val="EDEEE9"/>
          </a:solidFill>
          <a:ln w="25400">
            <a:solidFill>
              <a:srgbClr val="0A1F20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78276" y="1650959"/>
            <a:ext cx="2235144" cy="1650959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21" name="Shape 19"/>
          <p:cNvSpPr/>
          <p:nvPr/>
        </p:nvSpPr>
        <p:spPr>
          <a:xfrm>
            <a:off x="4978276" y="2476438"/>
            <a:ext cx="2235144" cy="825479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4952" y="3809905"/>
            <a:ext cx="1523962" cy="406390"/>
          </a:xfrm>
          <a:prstGeom prst="ellipse">
            <a:avLst/>
          </a:prstGeom>
          <a:ln w="12700">
            <a:solidFill>
              <a:srgbClr val="1B7A6B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49441" y="4190895"/>
            <a:ext cx="1460463" cy="406390"/>
          </a:xfrm>
          <a:prstGeom prst="ellipse">
            <a:avLst/>
          </a:prstGeom>
          <a:ln w="12700">
            <a:solidFill>
              <a:srgbClr val="1B7A6B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93930" y="4571886"/>
            <a:ext cx="1396965" cy="406390"/>
          </a:xfrm>
          <a:prstGeom prst="ellipse">
            <a:avLst/>
          </a:prstGeom>
          <a:ln w="12700">
            <a:solidFill>
              <a:srgbClr val="1B7A6B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38419" y="3809905"/>
            <a:ext cx="1333467" cy="406390"/>
          </a:xfrm>
          <a:prstGeom prst="ellipse">
            <a:avLst/>
          </a:prstGeom>
          <a:ln w="12700">
            <a:solidFill>
              <a:srgbClr val="1B7A6B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82908" y="4190895"/>
            <a:ext cx="1269968" cy="406390"/>
          </a:xfrm>
          <a:prstGeom prst="ellipse">
            <a:avLst/>
          </a:prstGeom>
          <a:ln w="12700">
            <a:solidFill>
              <a:srgbClr val="1B7A6B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27397" y="4571886"/>
            <a:ext cx="1206470" cy="406390"/>
          </a:xfrm>
          <a:prstGeom prst="ellipse">
            <a:avLst/>
          </a:prstGeom>
          <a:ln w="12700">
            <a:solidFill>
              <a:srgbClr val="1B7A6B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E3E5DE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2015284"/>
            <a:ext cx="88898" cy="4398227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2015284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1824789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2116882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7A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93770" y="495288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E3E5D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ตัวเลข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1142971" y="444489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ตัวเลข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1142971" y="1206470"/>
            <a:ext cx="952476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1B7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 ECONOMICS · SOFTWARE OVER CONCRETE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69968" y="1777956"/>
            <a:ext cx="10286743" cy="533387"/>
          </a:xfrm>
          <a:prstGeom prst="roundRect">
            <a:avLst>
              <a:gd name="adj" fmla="val 10286"/>
            </a:avLst>
          </a:prstGeom>
          <a:solidFill>
            <a:srgbClr val="E3B23C"/>
          </a:solidFill>
          <a:ln/>
        </p:spPr>
      </p:sp>
      <p:sp>
        <p:nvSpPr>
          <p:cNvPr id="23" name="Text 21"/>
          <p:cNvSpPr/>
          <p:nvPr/>
        </p:nvSpPr>
        <p:spPr>
          <a:xfrm>
            <a:off x="1422364" y="1777956"/>
            <a:ext cx="9981950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สถานการณ์:  </a:t>
            </a:r>
            <a:pPr algn="l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พายุฝนเย็นถล่มฝั่งตะวันออก — 6 สถานีที่ลงปลายน้ำเดียวกันขึ้นแตะระดับเฝ้าระวัง 62% พร้อมกัน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69968" y="2666933"/>
            <a:ext cx="4825879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ต้นทุน · SOFTWARE LAYER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269968" y="2959026"/>
            <a:ext cx="4825879" cy="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71566" y="2959026"/>
            <a:ext cx="3809905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พัฒนา + ติดตั้งเลเยอร์ประสานงาน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43371" y="2959026"/>
            <a:ext cx="850879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[X]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69968" y="3327317"/>
            <a:ext cx="4825879" cy="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566" y="3327317"/>
            <a:ext cx="3809905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เชื่อม API ข้อมูลรัฐ (มีอยู่/ฟรี)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143371" y="3327317"/>
            <a:ext cx="850879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69968" y="3695608"/>
            <a:ext cx="4825879" cy="3174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566" y="3695608"/>
            <a:ext cx="3809905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ดูแลระบบ + โฮสต์ / ปี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143371" y="3695608"/>
            <a:ext cx="850879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[X]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69968" y="4063898"/>
            <a:ext cx="4825879" cy="317492"/>
          </a:xfrm>
          <a:prstGeom prst="rect">
            <a:avLst/>
          </a:prstGeom>
          <a:solidFill>
            <a:srgbClr val="0F3D3E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566" y="4063898"/>
            <a:ext cx="3809905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DEEE9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รวมปีแรก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43371" y="4063898"/>
            <a:ext cx="850879" cy="31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3B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[X]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667333" y="2666933"/>
            <a:ext cx="4889378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ผลตอบแทน · WHY IT PENCILS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67333" y="2984425"/>
            <a:ext cx="4889378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อุโมงค์ / สถานีสูบใหม่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67333" y="3225719"/>
            <a:ext cx="4889378" cy="444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D62828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‘พันล้านบาท’ / โครงการ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667333" y="3822604"/>
            <a:ext cx="4889378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8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ชลชาญประสานสินทรัพย์เดิม ~190 แห่งให้ทำงานร่วมกัน — เพิ่มความจุระบายได้โดยไม่ต้องเทคอนกรีตใหม่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1701125"/>
            <a:ext cx="88898" cy="4712386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1701125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1510630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1802723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93770" y="558786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13494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การขยายผล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1142971" y="507987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การขยายผล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1142971" y="1269968"/>
            <a:ext cx="952476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SCALE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5943" y="4786682"/>
            <a:ext cx="1904952" cy="928347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23" name="Shape 21"/>
          <p:cNvSpPr/>
          <p:nvPr/>
        </p:nvSpPr>
        <p:spPr>
          <a:xfrm>
            <a:off x="2285943" y="5422936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5943" y="5130843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58946" y="5816626"/>
            <a:ext cx="2158946" cy="279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1 สถานี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58946" y="6096019"/>
            <a:ext cx="215894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station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285943" y="4456490"/>
            <a:ext cx="1904952" cy="279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[X]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4952876" y="4022161"/>
            <a:ext cx="1904952" cy="1692868"/>
          </a:xfrm>
          <a:prstGeom prst="rect">
            <a:avLst/>
          </a:prstGeom>
          <a:solidFill>
            <a:srgbClr val="E3B23C"/>
          </a:solidFill>
          <a:ln/>
        </p:spPr>
      </p:sp>
      <p:sp>
        <p:nvSpPr>
          <p:cNvPr id="29" name="Shape 27"/>
          <p:cNvSpPr/>
          <p:nvPr/>
        </p:nvSpPr>
        <p:spPr>
          <a:xfrm>
            <a:off x="4952876" y="5422936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52876" y="5130843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2876" y="4838750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52876" y="4546658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5879" y="5816626"/>
            <a:ext cx="2158946" cy="279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1 เขต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825879" y="6096019"/>
            <a:ext cx="215894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district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52876" y="3691969"/>
            <a:ext cx="1904952" cy="279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[X]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7619810" y="3148423"/>
            <a:ext cx="1904952" cy="2566606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37" name="Shape 35"/>
          <p:cNvSpPr/>
          <p:nvPr/>
        </p:nvSpPr>
        <p:spPr>
          <a:xfrm>
            <a:off x="7619810" y="5422936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19810" y="5130843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619810" y="4838750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19810" y="4546658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19810" y="4254565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19810" y="3962472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19810" y="3670380"/>
            <a:ext cx="1904952" cy="0"/>
          </a:xfrm>
          <a:prstGeom prst="line">
            <a:avLst/>
          </a:prstGeom>
          <a:noFill/>
          <a:ln w="17780">
            <a:solidFill>
              <a:srgbClr val="0F3D3E">
                <a:alpha val="8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92813" y="5816626"/>
            <a:ext cx="2158946" cy="279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ทั้งกรุงเทพฯ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492813" y="6096019"/>
            <a:ext cx="2158946" cy="190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whole city · ~190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19810" y="2818231"/>
            <a:ext cx="1904952" cy="2793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3B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[X]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1269968" y="1904952"/>
            <a:ext cx="952476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น้ำที่ประสานระบายได้ · ครัวเรือนที่ได้ประโยชน์ · ทุนที่ต้องใช้  — [เติมตัวเลขต่อระดับ]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E3E5DE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1386966"/>
            <a:ext cx="88898" cy="5026545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1386966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1196471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1488564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7A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93770" y="558786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E3E5D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ความเสี่ยงและข้อสมมติ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1142971" y="507987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ความเสี่ยงและข้อสมมติ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1142971" y="1269968"/>
            <a:ext cx="952476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1B7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RISKS &amp; ASSUMPTIONS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69968" y="1968451"/>
            <a:ext cx="10286743" cy="825479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22364" y="2120847"/>
            <a:ext cx="114297" cy="114297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1701757" y="2070048"/>
            <a:ext cx="9524762" cy="29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พิกัดสถานีเป็นค่าประมาณ · ยังไม่มี telemetry รายปั๊ม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01757" y="2387540"/>
            <a:ext cx="9524762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→  </a:t>
            </a:r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อะแดปเตอร์ดึงพิกัดทางการจาก data.bangkok.go.th มาแทนเมื่อเข้าถึงได้ — และติดป้ายที่มาบอกความจริงทุกค่า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69968" y="2920927"/>
            <a:ext cx="10286743" cy="825479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22364" y="3073323"/>
            <a:ext cx="114297" cy="114297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1701757" y="3022524"/>
            <a:ext cx="9524762" cy="29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บาง API (ThaiWater / CKAN) ติด CORS หรือล่ม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701757" y="3340016"/>
            <a:ext cx="9524762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→  </a:t>
            </a:r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ทุกแหล่งมี fallback เป็น snapshot ที่คอมมิตไว้ ระบบไม่มีวันดับกลางเดโม + ป้าย ‘แคช / จำลอง’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69968" y="3873403"/>
            <a:ext cx="10286743" cy="825479"/>
          </a:xfrm>
          <a:prstGeom prst="roundRect">
            <a:avLst>
              <a:gd name="adj" fmla="val 5539"/>
            </a:avLst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22364" y="4025799"/>
            <a:ext cx="114297" cy="114297"/>
          </a:xfrm>
          <a:prstGeom prst="ellipse">
            <a:avLst/>
          </a:prstGeom>
          <a:solidFill>
            <a:srgbClr val="D62828"/>
          </a:solidFill>
          <a:ln/>
        </p:spPr>
      </p:sp>
      <p:sp>
        <p:nvSpPr>
          <p:cNvPr id="32" name="Text 30"/>
          <p:cNvSpPr/>
          <p:nvPr/>
        </p:nvSpPr>
        <p:spPr>
          <a:xfrm>
            <a:off x="1701757" y="3975001"/>
            <a:ext cx="9524762" cy="292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เจ้าหน้าที่ไม่เชื่อคำแนะนำของ AI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701757" y="4292493"/>
            <a:ext cx="9524762" cy="342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b="1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→  </a:t>
            </a:r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ทุกคำแนะนำกด ‘ดูเหตุผล’ เห็นตรรกะได้ + คนเป็นผู้อนุมัติเสมอ (human-in-the-loop)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E3E5DE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5C7A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5C7A7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1072807"/>
            <a:ext cx="88898" cy="5340704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1072807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882312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1F2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1174404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C7A7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93770" y="558786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E3E5D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ทีม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1142971" y="507987"/>
            <a:ext cx="9524762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spc="-100" kern="0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ทีม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1142971" y="1269968"/>
            <a:ext cx="9524762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1B7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TEAM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269968" y="2031949"/>
            <a:ext cx="2285943" cy="2539937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8451" y="2222444"/>
            <a:ext cx="888978" cy="888978"/>
          </a:xfrm>
          <a:prstGeom prst="ellipse">
            <a:avLst/>
          </a:prstGeom>
          <a:solidFill>
            <a:srgbClr val="0F3D3E"/>
          </a:solidFill>
          <a:ln w="25400">
            <a:solidFill>
              <a:srgbClr val="1B7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68451" y="2222444"/>
            <a:ext cx="888978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รูป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96965" y="3238419"/>
            <a:ext cx="2031949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[ชื่อ]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396965" y="3505112"/>
            <a:ext cx="2031949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[บทบาท]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22364" y="3784505"/>
            <a:ext cx="1981150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[หลักฐานว่าทำได้จริง — สิ่งที่เคยสร้าง/แข่ง/ทำสำเร็จ]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809905" y="2031949"/>
            <a:ext cx="2285943" cy="2539937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08387" y="2222444"/>
            <a:ext cx="888978" cy="888978"/>
          </a:xfrm>
          <a:prstGeom prst="ellipse">
            <a:avLst/>
          </a:prstGeom>
          <a:solidFill>
            <a:srgbClr val="0F3D3E"/>
          </a:solidFill>
          <a:ln w="25400">
            <a:solidFill>
              <a:srgbClr val="1B7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8387" y="2222444"/>
            <a:ext cx="888978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รูป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936902" y="3238419"/>
            <a:ext cx="2031949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[ชื่อ]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936902" y="3505112"/>
            <a:ext cx="2031949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[บทบาท]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62301" y="3784505"/>
            <a:ext cx="1981150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[หลักฐานว่าทำได้จริง — สิ่งที่เคยสร้าง/แข่ง/ทำสำเร็จ]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49841" y="2031949"/>
            <a:ext cx="2285943" cy="2539937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48324" y="2222444"/>
            <a:ext cx="888978" cy="888978"/>
          </a:xfrm>
          <a:prstGeom prst="ellipse">
            <a:avLst/>
          </a:prstGeom>
          <a:solidFill>
            <a:srgbClr val="0F3D3E"/>
          </a:solidFill>
          <a:ln w="25400">
            <a:solidFill>
              <a:srgbClr val="1B7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48324" y="2222444"/>
            <a:ext cx="888978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รูป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76838" y="3238419"/>
            <a:ext cx="2031949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[ชื่อ]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476838" y="3505112"/>
            <a:ext cx="2031949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[บทบาท]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02237" y="3784505"/>
            <a:ext cx="1981150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[หลักฐานว่าทำได้จริง — สิ่งที่เคยสร้าง/แข่ง/ทำสำเร็จ]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889778" y="2031949"/>
            <a:ext cx="2285943" cy="2539937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5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88260" y="2222444"/>
            <a:ext cx="888978" cy="888978"/>
          </a:xfrm>
          <a:prstGeom prst="ellipse">
            <a:avLst/>
          </a:prstGeom>
          <a:solidFill>
            <a:srgbClr val="0F3D3E"/>
          </a:solidFill>
          <a:ln w="25400">
            <a:solidFill>
              <a:srgbClr val="1B7A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588260" y="2222444"/>
            <a:ext cx="888978" cy="88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รูป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016775" y="3238419"/>
            <a:ext cx="2031949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D3E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[ชื่อ]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016775" y="3505112"/>
            <a:ext cx="2031949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1B7A6B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[บทบาท]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042174" y="3784505"/>
            <a:ext cx="1981150" cy="69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A1F20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[หลักฐานว่าทำได้จริง — สิ่งที่เคยสร้าง/แข่ง/ทำสำเร็จ]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758648"/>
            <a:ext cx="88898" cy="5654863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758648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568153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860245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69968" y="888978"/>
            <a:ext cx="8889778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E3B23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สิ่งที่เราขอ · THE ASK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69968" y="1619210"/>
            <a:ext cx="2730432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เราต้องการ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063898" y="1581110"/>
            <a:ext cx="7492813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พื้นที่นำร่องกับสำนักการระบายน้ำ กทม. + เมนทอร์ด้านชลศาสตร์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269968" y="2793930"/>
            <a:ext cx="2730432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เพื่อ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063898" y="2755831"/>
            <a:ext cx="7492813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เชื่อมข้อมูลสถานีจริง และทดสอบแผนประสานงานในเหตุการณ์ฝนจริง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269968" y="3968651"/>
            <a:ext cx="2730432" cy="76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3B23C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ภายใน 90 วัน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063898" y="3930552"/>
            <a:ext cx="7492813" cy="952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พิสูจน์ว่าการประสานลดการย้ายน้ำท่วมข้ามเขตได้จริง 1 ลุ่มน้ำ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13494A"/>
          </a:solidFill>
          <a:ln/>
        </p:spPr>
      </p:sp>
      <p:sp>
        <p:nvSpPr>
          <p:cNvPr id="3" name="Shape 1"/>
          <p:cNvSpPr/>
          <p:nvPr/>
        </p:nvSpPr>
        <p:spPr>
          <a:xfrm>
            <a:off x="393690" y="6413511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690" y="5816609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690" y="5219707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690" y="4622804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690" y="4025902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690" y="3429000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690" y="2832098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690" y="2235196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690" y="1638293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690" y="1041391"/>
            <a:ext cx="69848" cy="0"/>
          </a:xfrm>
          <a:prstGeom prst="line">
            <a:avLst/>
          </a:prstGeom>
          <a:noFill/>
          <a:ln w="8890">
            <a:solidFill>
              <a:srgbClr val="6FA0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690" y="444489"/>
            <a:ext cx="126997" cy="0"/>
          </a:xfrm>
          <a:prstGeom prst="line">
            <a:avLst/>
          </a:prstGeom>
          <a:noFill/>
          <a:ln w="15240">
            <a:solidFill>
              <a:srgbClr val="6FA0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4792" y="444489"/>
            <a:ext cx="88898" cy="5969022"/>
          </a:xfrm>
          <a:prstGeom prst="rect">
            <a:avLst/>
          </a:prstGeom>
          <a:solidFill>
            <a:srgbClr val="1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9393" y="444489"/>
            <a:ext cx="139697" cy="0"/>
          </a:xfrm>
          <a:prstGeom prst="line">
            <a:avLst/>
          </a:prstGeom>
          <a:noFill/>
          <a:ln w="20320">
            <a:solidFill>
              <a:srgbClr val="E3B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6693" y="922011"/>
            <a:ext cx="165096" cy="0"/>
          </a:xfrm>
          <a:prstGeom prst="line">
            <a:avLst/>
          </a:prstGeom>
          <a:noFill/>
          <a:ln w="27940">
            <a:solidFill>
              <a:srgbClr val="D6282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1789" y="253994"/>
            <a:ext cx="761981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DEEE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789" y="546086"/>
            <a:ext cx="761981" cy="215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2971" y="2730432"/>
            <a:ext cx="10159746" cy="114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EDEEE9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ถาม–ตอบ</a:t>
            </a:r>
            <a:endParaRPr lang="en-US" sz="8800" dirty="0"/>
          </a:p>
        </p:txBody>
      </p:sp>
      <p:sp>
        <p:nvSpPr>
          <p:cNvPr id="20" name="Text 18"/>
          <p:cNvSpPr/>
          <p:nvPr/>
        </p:nvSpPr>
        <p:spPr>
          <a:xfrm>
            <a:off x="1142971" y="3936902"/>
            <a:ext cx="10159746" cy="380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800" kern="0" dirty="0">
                <a:solidFill>
                  <a:srgbClr val="6FA09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Q&amp;A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35784" y="6286514"/>
            <a:ext cx="3174921" cy="253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6FA093"/>
                </a:solidFill>
                <a:latin typeface="Anuphan" pitchFamily="34" charset="0"/>
                <a:ea typeface="Anuphan" pitchFamily="34" charset="-122"/>
                <a:cs typeface="Anuphan" pitchFamily="34" charset="-120"/>
              </a:rPr>
              <a:t>ชลชาญ · AquaFlow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2026-07-22T13:18:03Z</dcterms:created>
  <dcterms:modified xsi:type="dcterms:W3CDTF">2026-07-22T13:18:03Z</dcterms:modified>
</cp:coreProperties>
</file>